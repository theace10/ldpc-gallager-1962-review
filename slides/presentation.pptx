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304288"/>
            <a:ext cx="8229600" cy="2286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Low-Density Parity-Check Codes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CCCC"/>
                </a:solidFill>
              </a:rPr>
              <a:t>Replication of Gallager (1962)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084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Paper #8:  </a:t>
            </a:r>
            <a:pPr algn="ctr" indent="0" marL="0">
              <a:buNone/>
            </a:pPr>
            <a:r>
              <a:rPr lang="en-US" sz="1100" i="1" dirty="0">
                <a:solidFill>
                  <a:srgbClr val="E0E0E0"/>
                </a:solidFill>
              </a:rPr>
              <a:t>R. Gallager, "Low-Density Parity-Check Codes," IRE Trans. Inf. Theory, 1962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487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E0E0"/>
                </a:solidFill>
              </a:rPr>
              <a:t>Bless Elikem Krapah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907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</a:rPr>
              <a:t>COE 592: Advanced Signal and Communication Theory  |  KNUST MPhil  |  September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Paper Overview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COE 592: Advanced Signal and Communication Theory  |  Bless Elikem Krapah  |  KNUST  |  2/10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A1A1A"/>
                </a:solidFill>
              </a:rPr>
              <a:t>"Low-Density Parity-Check Codes"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13385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R. Gallager  |  IRE Transactions on Information Theory, vol. 8, pp. 21-28, 1962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536192"/>
            <a:ext cx="2743200" cy="3246120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627632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H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29768" y="2176272"/>
            <a:ext cx="2523744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402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Sparse Parity-Check Matrix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670048"/>
            <a:ext cx="24688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A (j,k)-regular matrix H where every column has weight j and every row has weight k, keeping the code "low density".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46120" y="1536192"/>
            <a:ext cx="2743200" cy="3246120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1627632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BP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355848" y="2176272"/>
            <a:ext cx="2523744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2402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Iterative Belief Propagation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2670048"/>
            <a:ext cx="24688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Messages passed between variable nodes and check nodes on a Tanner graph, iterating until convergence.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72200" y="1536192"/>
            <a:ext cx="2743200" cy="3246120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81928" y="1627632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C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281928" y="2176272"/>
            <a:ext cx="2523744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22402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Near-Shannon Performance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2670048"/>
            <a:ext cx="24688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Demonstrated BER curves approaching the channel capacity limit, far below any code of the 1950s.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Background: The Coding Gap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COE 592: Advanced Signal and Communication Theory  |  Bless Elikem Krapah  |  KNUST  |  3/10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Shannon (1948) proved that reliable communication is possible at any rate R below channel capacity: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4572000" cy="2286000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463040"/>
            <a:ext cx="435254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(1/2) log2(1 + Eb/N0)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rate R = 1/2 over AWGN: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Minimum Eb/N0 = 0 dB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Uncoded BPSK at BER=1e-5: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needs Eb/N0 ~ 8 dB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=&gt; 8 dB coding gap to fill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8888"/>
                </a:solidFill>
              </a:rPr>
              <a:t>Shannon proved it was possible but gave no construction.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120640" y="777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</a:rPr>
              <a:t>Prior codes and their limitations: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120640" y="1170432"/>
            <a:ext cx="3657600" cy="658368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30368" y="1225296"/>
            <a:ext cx="594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8888"/>
                </a:solidFill>
              </a:rPr>
              <a:t>1950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97880" y="12161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Hamming codes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9788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Single-bit correction only, high redundancy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120640" y="1947672"/>
            <a:ext cx="3657600" cy="658368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0368" y="2002536"/>
            <a:ext cx="594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8888"/>
                </a:solidFill>
              </a:rPr>
              <a:t>1954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97880" y="19933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Reed-Muller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97880" y="22585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Hard decoding, poor high-SNR slope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120640" y="2724912"/>
            <a:ext cx="3657600" cy="658368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30368" y="2779776"/>
            <a:ext cx="594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8888"/>
                </a:solidFill>
              </a:rPr>
              <a:t>1960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97880" y="27706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BCH / Reed-Solomon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97880" y="30358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Powerful but algebraic, no iterative path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120640" y="3502152"/>
            <a:ext cx="3657600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0368" y="3557016"/>
            <a:ext cx="594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1962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897880" y="35478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Gallager LDPC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97880" y="38130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0E0"/>
                </a:solidFill>
              </a:rPr>
              <a:t>First iterative decoder, near-Shannon BER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LDPC Code Construction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COE 592: Advanced Signal and Communication Theory  |  Bless Elikem Krapah  |  KNUST  |  4/10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(j,k)-Regular LDPC Code: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42976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Every column of H has weight j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Every row of H has weight k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Rate  R = 1 - j/k
</a:t>
            </a:r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Gallager's construction: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[ H₁; H₂; ...; Hⱼ ]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H₁ : block-diagonal
  columns r·k..(r+1)·k-1 have 1 in row r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H₂..Hⱼ : random column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  permutations of H₁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0" y="74980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Implementation (src/ldpc.py):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143000"/>
            <a:ext cx="3931920" cy="3063240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6048" y="1234440"/>
            <a:ext cx="3712464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make_H(n, j, k, seed=42):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m_sub = n // k   # rows per sub-mat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H1: block-diagonal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H1 = zeros((m_sub, n))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r in range(m_sub):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H1[r, r*k:(r+1)*k] = 1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H2..Hj: random permutations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 = [H1]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_ in range(j - 1):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perm = rng.permutation(n)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sub.append(H1[:, perm])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vstack(sub)   # (m, n)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4315968"/>
            <a:ext cx="8412480" cy="438912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370832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This replication:  n = 1200  |  j/k = {2/4, 3/6, 4/8}  |  Rate R = 0.5  |  m = n·j/k = 600 check nodes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Belief Propagation Decoder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COE 592: Advanced Signal and Communication Theory  |  Bless Elikem Krapah  |  KNUST  |  5/10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Log-domain sum-product algorithm on the Tanner graph: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4754880" cy="713232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43584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1225296"/>
            <a:ext cx="4041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Channel LLR (initialise)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1490472"/>
            <a:ext cx="4041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L(cᴵ) = 2·yᴵ / σ²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4754880" cy="713232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084832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2066544"/>
            <a:ext cx="4041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Check-node update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2331720"/>
            <a:ext cx="4041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rⱼ→ᴵ = 2·arctanh(∏_{i'≠i} tanh(q_{i'→j}/2))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852928"/>
            <a:ext cx="4754880" cy="713232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26080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907792"/>
            <a:ext cx="4041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Variable-node update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3172968"/>
            <a:ext cx="4041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qᴵ→ⱼ = L_ch[i] + Σ_{j'≠j} r_{j'→i}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694176"/>
            <a:ext cx="4754880" cy="713232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767328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3749040"/>
            <a:ext cx="4041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Decision + syndrome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" y="4014216"/>
            <a:ext cx="4041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cᴵ = 0 if L_post &gt; 0; stop if H·c = 0 mod 2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03520" y="74980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Vectorised implementation (src/decoder.py):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303520" y="1143000"/>
            <a:ext cx="3474720" cy="2999232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13248" y="1234440"/>
            <a:ext cx="3255264" cy="2816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Sign/log-magnitude trick (stable)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sign_q     = sign(q_c)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total_sign = prod(sign_q, axis=1)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sign_excl  = total_sign * sign_q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log_t = log(|tanh(q_c/2)| + eps)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log_excl = sum(log_t,1) - log_t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sign_excl * 2*arctanh(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clip(exp(log_excl), 0, 1))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All edges updated as numpy arrays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 Python loops over edges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03520" y="42062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</a:rPr>
              <a:t>Key: edges stored as flat arrays (m*k,); all updates are numpy matrix ops, no Python edge-level loops.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Replication Setup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COE 592: Advanced Signal and Communication Theory  |  Bless Elikem Krapah  |  KNUST  |  6/10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Simulation parameters: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4389120" cy="329184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21615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Codeword length 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24912" y="121615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</a:rPr>
              <a:t>1200 (divisible by 4, 6, 8)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517904"/>
            <a:ext cx="4389120" cy="329184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56362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Configurations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24912" y="156362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</a:rPr>
              <a:t>(j=2,k=4), (j=3,k=6), (j=4,k=8)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1865376"/>
            <a:ext cx="4389120" cy="329184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911096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Code rate 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24912" y="191109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</a:rPr>
              <a:t>1 - j/k = 0.5 for all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12848"/>
            <a:ext cx="4389120" cy="329184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2585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Channel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24912" y="225856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</a:rPr>
              <a:t>BPSK-AWGN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560320"/>
            <a:ext cx="4389120" cy="329184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60604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Eb/N0 range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24912" y="260604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</a:rPr>
              <a:t>0.5 to 4.0 dB (step 0.5 dB)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2907792"/>
            <a:ext cx="4389120" cy="329184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295351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Blocks per point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24912" y="295351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</a:rPr>
              <a:t>200 codewords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255264"/>
            <a:ext cx="4389120" cy="329184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30098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Max BP iterations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724912" y="330098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</a:rPr>
              <a:t>50 (early-stop on syndrome)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602736"/>
            <a:ext cx="4389120" cy="329184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3648456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Codeword type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724912" y="364845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</a:rPr>
              <a:t>All-zero (valid for linear codes)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3950208"/>
            <a:ext cx="4389120" cy="329184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399592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Shannon limit (R=1/2)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724912" y="399592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</a:rPr>
              <a:t>0 dB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29200" y="7498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Replication scope and choices: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0" y="1170432"/>
            <a:ext cx="3749040" cy="749808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66360" y="1234440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Gallager's original used n up to 2048; n=1200 balances simulation speed with statistical reliability (240K bits per SNR point).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29200" y="2039112"/>
            <a:ext cx="3749040" cy="749808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66360" y="2103120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All-zero codeword is valid because LDPC is a linear code and BPSK-AWGN is symmetric; any codeword gives the same BER.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29200" y="2907792"/>
            <a:ext cx="3749040" cy="749808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66360" y="2971800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Three (j,k) pairs share rate R=1/2, isolating the effect of graph density on performance.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29200" y="3776472"/>
            <a:ext cx="3749040" cy="749808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66360" y="3840480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Log-domain BP avoids numerical underflow in the product of tanh values, matching Gallager's original message-passing description.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Results: BER vs Eb/N0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COE 592: Advanced Signal and Communication Theory  |  Bless Elikem Krapah  |  KNUST  |  7/10</a:t>
            </a:r>
            <a:endParaRPr lang="en-US" sz="700" dirty="0"/>
          </a:p>
        </p:txBody>
      </p:sp>
      <p:pic>
        <p:nvPicPr>
          <p:cNvPr id="6" name="Image 0" descr="C:\Users\Elikem\Ace\Academics\MPhil\ASCT\Final Assignment\results\ber_vs_sn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49808"/>
            <a:ext cx="6400800" cy="40965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12280" y="10972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(j=4,k=8)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Sharpest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waterfall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812280" y="19659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(j=3,k=6)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Gallager's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main case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12280" y="28346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(j=2,k=4)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Error floor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visible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28600" y="475488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88888"/>
                </a:solidFill>
              </a:rPr>
              <a:t>Key result: </a:t>
            </a:r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(j=3,k=6) drops from BER 5.7e-2 at 1 dB to effectively zero at 2.5 dB, a waterfall consistent with Gallager's theoretical analysis. Shannon limit at 0 dB.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Original Contribution: Convergence Analysis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COE 592: Advanced Signal and Communication Theory  |  Bless Elikem Krapah  |  KNUST  |  8/10</a:t>
            </a:r>
            <a:endParaRPr lang="en-US" sz="700" dirty="0"/>
          </a:p>
        </p:txBody>
      </p:sp>
      <p:pic>
        <p:nvPicPr>
          <p:cNvPr id="6" name="Image 0" descr="C:\Users\Elikem\Ace\Academics\MPhil\ASCT\Final Assignment\results\converg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49808"/>
            <a:ext cx="5303520" cy="3429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60720" y="74980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Findings (not in original paper):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760720" y="1170432"/>
            <a:ext cx="3063240" cy="667512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97880" y="1225296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BER drops 2-3 orders of magnitude in the first 10 iterations.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760720" y="1975104"/>
            <a:ext cx="3063240" cy="667512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97880" y="2029968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At Eb/N0=2.5 dB, decoder converges to zero errors in ~7 iterations on average.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760720" y="2779776"/>
            <a:ext cx="3063240" cy="667512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97880" y="283464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Most of the gain comes in the first 15 iterations; diminishing returns after that.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760720" y="3584448"/>
            <a:ext cx="3063240" cy="667512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97880" y="3639312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Enables early-stopping: monitor syndrome, not iteration count.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74320" y="4279392"/>
            <a:ext cx="8549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</a:rPr>
              <a:t>Gallager (1962) described iterative decoding conceptually but did not plot convergence trajectories. This analysis quantifies the per-iteration improvement.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Limitations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COE 592: Advanced Signal and Communication Theory  |  Bless Elikem Krapah  |  KNUST  |  9/10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4251960" cy="1828800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4124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Error Floor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397764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43584"/>
            <a:ext cx="3977640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(j=2,k=4) shows high residual BER at 4 dB rather than a clean waterfall. Short cycles in the Tanner graph (low girth) cause correlated messages that stall the decoder. Higher j raises the waterfall threshold and suppresses the floor.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17720" y="749808"/>
            <a:ext cx="4251960" cy="1828800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84124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Block Length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170432"/>
            <a:ext cx="397764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243584"/>
            <a:ext cx="3977640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Performance degrades sharply below n~500. Gallager used n up to 2048; modern codes use n up to 64800 (DVB-S2). Our n=1200 is modest; extending to larger n would lower the waterfall SNR threshold.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834640"/>
            <a:ext cx="4251960" cy="1828800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2608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1962 Computational Context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255264"/>
            <a:ext cx="397764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28416"/>
            <a:ext cx="3977640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Belief propagation required floating-point operations per edge per iteration. For n=1000 and 50 iterations, this was infeasible on 1962 hardware, contributing to the paper being ignored for 30 years.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17720" y="2834640"/>
            <a:ext cx="4251960" cy="1828800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92608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Statistical Precision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3255264"/>
            <a:ext cx="397764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328416"/>
            <a:ext cx="3977640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With 200 blocks per SNR point, BER estimates below ~5e-4 carry high variance. True error floor characterisation requires millions of blocks. Results at 3-4 dB showing BER=0 reflect insufficient samples, not true zero-error performance.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COE 592: Advanced Signal and Communication Theory  |  Bless Elikem Krapah  |  KNUST  |  10/10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Implications and Impact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8503920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9828" y="1243584"/>
            <a:ext cx="329184" cy="329184"/>
          </a:xfrm>
          <a:prstGeom prst="ellipse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6642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E0E0"/>
                </a:solidFill>
              </a:rPr>
              <a:t>1962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99339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Gallager proposes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LDPC codes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610612" y="1243584"/>
            <a:ext cx="329184" cy="329184"/>
          </a:xfrm>
          <a:prstGeom prst="ellipse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20824" y="16642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E0E0"/>
                </a:solidFill>
              </a:rPr>
              <a:t>1993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20824" y="199339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Turbo codes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rediscover iteration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311396" y="1243584"/>
            <a:ext cx="329184" cy="329184"/>
          </a:xfrm>
          <a:prstGeom prst="ellipse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21608" y="16642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E0E0"/>
                </a:solidFill>
              </a:rPr>
              <a:t>1996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21608" y="199339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MacKay &amp; Neal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rediscover LDPC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12180" y="1243584"/>
            <a:ext cx="329184" cy="329184"/>
          </a:xfrm>
          <a:prstGeom prst="ellipse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22392" y="16642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E0E0"/>
                </a:solidFill>
              </a:rPr>
              <a:t>2008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22392" y="199339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WiMAX 802.16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adopts LDPC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712964" y="1243584"/>
            <a:ext cx="329184" cy="329184"/>
          </a:xfrm>
          <a:prstGeom prst="ellipse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23176" y="16642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E0E0"/>
                </a:solidFill>
              </a:rPr>
              <a:t>2017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23176" y="199339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5G NR standard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chosen over polar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2670048"/>
            <a:ext cx="2651760" cy="2103120"/>
          </a:xfrm>
          <a:prstGeom prst="rect">
            <a:avLst/>
          </a:prstGeom>
          <a:solidFill>
            <a:srgbClr val="2A2A2A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2761488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0E0"/>
                </a:solidFill>
              </a:rPr>
              <a:t>Modern Standards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9768" y="3090672"/>
            <a:ext cx="243230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LDPC is in 5G NR, Wi-Fi 6 (802.11ax), DVB-S2, and 10GbE. Every smartphone you own contains Gallager's construction from 1962.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0" y="2670048"/>
            <a:ext cx="2651760" cy="2103120"/>
          </a:xfrm>
          <a:prstGeom prst="rect">
            <a:avLst/>
          </a:prstGeom>
          <a:solidFill>
            <a:srgbClr val="2A2A2A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2761488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0E0"/>
                </a:solidFill>
              </a:rPr>
              <a:t>Capacity-Achieving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10128" y="3090672"/>
            <a:ext cx="243230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Irregular LDPC codes (Luby et al., 2001) achieve the Shannon limit to within 0.0045 dB, the closest any code has come.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80760" y="2670048"/>
            <a:ext cx="2651760" cy="2103120"/>
          </a:xfrm>
          <a:prstGeom prst="rect">
            <a:avLst/>
          </a:prstGeom>
          <a:solidFill>
            <a:srgbClr val="2A2A2A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90488" y="2761488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0E0"/>
                </a:solidFill>
              </a:rPr>
              <a:t>Algorithmic Legacy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90488" y="3090672"/>
            <a:ext cx="243230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Belief propagation generalised to Bayesian networks, turbo decoding, compressed sensing, and modern deep learning (graph neural networks).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LDPC Codes: Replication of Gallager (1962)</dc:title>
  <dc:subject>COE 592 ASCT - Paper 8 Replication</dc:subject>
  <dc:creator>Bless Elikem Krapah</dc:creator>
  <cp:lastModifiedBy>Bless Elikem Krapah</cp:lastModifiedBy>
  <cp:revision>1</cp:revision>
  <dcterms:created xsi:type="dcterms:W3CDTF">2026-09-08T15:13:37Z</dcterms:created>
  <dcterms:modified xsi:type="dcterms:W3CDTF">2026-09-08T15:13:37Z</dcterms:modified>
</cp:coreProperties>
</file>